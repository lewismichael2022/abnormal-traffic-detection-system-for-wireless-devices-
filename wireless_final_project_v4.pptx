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40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Noto Sans T Chinese" panose="02020500000000000000" charset="-120"/>
      <p:regular r:id="rId20"/>
    </p:embeddedFont>
    <p:embeddedFont>
      <p:font typeface="Arial Italics" panose="02020500000000000000" charset="0"/>
      <p:regular r:id="rId21"/>
    </p:embeddedFont>
    <p:embeddedFont>
      <p:font typeface="Arimo" panose="02020500000000000000" charset="0"/>
      <p:regular r:id="rId22"/>
    </p:embeddedFont>
    <p:embeddedFont>
      <p:font typeface="Arimo Bold Italics" panose="02020500000000000000" charset="0"/>
      <p:regular r:id="rId23"/>
    </p:embeddedFont>
    <p:embeddedFont>
      <p:font typeface="Arimo Italics" panose="02020500000000000000" charset="0"/>
      <p:regular r:id="rId24"/>
    </p:embeddedFont>
    <p:embeddedFont>
      <p:font typeface="Times New Roman Bold Italics" panose="02020500000000000000" charset="0"/>
      <p:regular r:id="rId25"/>
    </p:embeddedFont>
    <p:embeddedFont>
      <p:font typeface="標楷體" panose="03000509000000000000" pitchFamily="65" charset="-12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標題和內容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6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0" y="3014663"/>
            <a:ext cx="14859000" cy="6036468"/>
          </a:xfrm>
        </p:spPr>
        <p:txBody>
          <a:bodyPr rtlCol="0"/>
          <a:lstStyle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/>
              <a:t>範例頁尾文字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zh-TW"/>
              <a:t>20XX/2/7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zh-TW" smtClean="0"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362651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4.mp4"/><Relationship Id="rId1" Type="http://schemas.openxmlformats.org/officeDocument/2006/relationships/vide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3386360" y="6"/>
            <a:ext cx="5353870" cy="7204872"/>
            <a:chOff x="0" y="0"/>
            <a:chExt cx="7138494" cy="96064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38543" cy="9606534"/>
            </a:xfrm>
            <a:custGeom>
              <a:avLst/>
              <a:gdLst/>
              <a:ahLst/>
              <a:cxnLst/>
              <a:rect l="l" t="t" r="r" b="b"/>
              <a:pathLst>
                <a:path w="7138543" h="9606534">
                  <a:moveTo>
                    <a:pt x="0" y="0"/>
                  </a:moveTo>
                  <a:lnTo>
                    <a:pt x="7138543" y="0"/>
                  </a:lnTo>
                  <a:lnTo>
                    <a:pt x="7138543" y="9606534"/>
                  </a:lnTo>
                  <a:lnTo>
                    <a:pt x="0" y="9606534"/>
                  </a:lnTo>
                  <a:close/>
                </a:path>
              </a:pathLst>
            </a:custGeom>
            <a:solidFill>
              <a:srgbClr val="BA9CA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758492" y="1691482"/>
            <a:ext cx="2654340" cy="8961870"/>
            <a:chOff x="0" y="0"/>
            <a:chExt cx="3539120" cy="119491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39109" cy="11949176"/>
            </a:xfrm>
            <a:custGeom>
              <a:avLst/>
              <a:gdLst/>
              <a:ahLst/>
              <a:cxnLst/>
              <a:rect l="l" t="t" r="r" b="b"/>
              <a:pathLst>
                <a:path w="3539109" h="11949176">
                  <a:moveTo>
                    <a:pt x="0" y="0"/>
                  </a:moveTo>
                  <a:lnTo>
                    <a:pt x="3539109" y="0"/>
                  </a:lnTo>
                  <a:lnTo>
                    <a:pt x="3539109" y="11949176"/>
                  </a:lnTo>
                  <a:lnTo>
                    <a:pt x="0" y="11949176"/>
                  </a:lnTo>
                  <a:close/>
                </a:path>
              </a:pathLst>
            </a:custGeom>
            <a:solidFill>
              <a:srgbClr val="D6C4C6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4514379" y="7008414"/>
            <a:ext cx="7611774" cy="3448475"/>
            <a:chOff x="0" y="0"/>
            <a:chExt cx="10149032" cy="45979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49078" cy="4597908"/>
            </a:xfrm>
            <a:custGeom>
              <a:avLst/>
              <a:gdLst/>
              <a:ahLst/>
              <a:cxnLst/>
              <a:rect l="l" t="t" r="r" b="b"/>
              <a:pathLst>
                <a:path w="10149078" h="4597908">
                  <a:moveTo>
                    <a:pt x="0" y="0"/>
                  </a:moveTo>
                  <a:lnTo>
                    <a:pt x="10149078" y="0"/>
                  </a:lnTo>
                  <a:lnTo>
                    <a:pt x="10149078" y="4597908"/>
                  </a:lnTo>
                  <a:lnTo>
                    <a:pt x="0" y="4597908"/>
                  </a:lnTo>
                  <a:close/>
                </a:path>
              </a:pathLst>
            </a:custGeom>
            <a:solidFill>
              <a:srgbClr val="BA9CA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-2993198" y="-847698"/>
            <a:ext cx="7617612" cy="3447586"/>
            <a:chOff x="0" y="0"/>
            <a:chExt cx="10156816" cy="45967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56825" cy="4596765"/>
            </a:xfrm>
            <a:custGeom>
              <a:avLst/>
              <a:gdLst/>
              <a:ahLst/>
              <a:cxnLst/>
              <a:rect l="l" t="t" r="r" b="b"/>
              <a:pathLst>
                <a:path w="10156825" h="4596765">
                  <a:moveTo>
                    <a:pt x="0" y="0"/>
                  </a:moveTo>
                  <a:lnTo>
                    <a:pt x="10156825" y="0"/>
                  </a:lnTo>
                  <a:lnTo>
                    <a:pt x="10156825" y="4596765"/>
                  </a:lnTo>
                  <a:lnTo>
                    <a:pt x="0" y="4596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74021" y="4673317"/>
            <a:ext cx="11666559" cy="1500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altLang="zh-TW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Traffic Detection System for Wireless Devices</a:t>
            </a: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m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029496" y="6971604"/>
            <a:ext cx="645149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113064514 </a:t>
            </a:r>
            <a:r>
              <a:rPr lang="en-US" sz="3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mo"/>
                <a:sym typeface="Arimo"/>
              </a:rPr>
              <a:t>劉姿妤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113064558 </a:t>
            </a:r>
            <a:r>
              <a:rPr lang="en-US" sz="320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mo"/>
                <a:sym typeface="Arimo"/>
              </a:rPr>
              <a:t>謝育葦</a:t>
            </a:r>
            <a:endParaRPr lang="en-US" sz="32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349937" y="1768299"/>
            <a:ext cx="15639329" cy="7918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To determine if our own host is behaving like a botnet member</a:t>
            </a:r>
          </a:p>
          <a:p>
            <a:pPr marL="742950" indent="-7429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By </a:t>
            </a:r>
            <a:r>
              <a:rPr lang="en-US" altLang="zh-TW" sz="4400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detecting outbound TCP flood attack patterns (SYN, ACK, FIN, RST)</a:t>
            </a:r>
          </a:p>
          <a:p>
            <a:pPr marL="742950" indent="-7429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TW" sz="4400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Using a deep learning model (CNN-LSTM) to analyze traffic features</a:t>
            </a:r>
          </a:p>
          <a:p>
            <a:pPr marL="742950" indent="-7429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TW" sz="4400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Identify and list suspicious processes responsible for abnormal traffic behavior</a:t>
            </a:r>
            <a:endParaRPr lang="en-US" sz="4400" dirty="0">
              <a:latin typeface="Times New Roman" panose="02020603050405020304" pitchFamily="18" charset="0"/>
              <a:ea typeface="Arimo"/>
              <a:cs typeface="Times New Roman" panose="02020603050405020304" pitchFamily="18" charset="0"/>
              <a:sym typeface="Arimo"/>
            </a:endParaRPr>
          </a:p>
          <a:p>
            <a:pPr marL="742950" indent="-7429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2021C68-0EB3-70C7-DF70-8592A188B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46" y="-9528"/>
            <a:ext cx="11779782" cy="1409871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096000" y="284654"/>
            <a:ext cx="4076462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5400" b="1" i="1" dirty="0">
                <a:solidFill>
                  <a:srgbClr val="000000"/>
                </a:solidFill>
                <a:latin typeface="Times New Roman" panose="02020603050405020304" pitchFamily="18" charset="0"/>
                <a:ea typeface="Arimo Bold Italics"/>
                <a:cs typeface="Times New Roman" panose="02020603050405020304" pitchFamily="18" charset="0"/>
                <a:sym typeface="Arimo Bold Italics"/>
              </a:rPr>
              <a:t>Project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0416876" y="4044127"/>
            <a:ext cx="7398424" cy="5535512"/>
          </a:xfrm>
          <a:custGeom>
            <a:avLst/>
            <a:gdLst/>
            <a:ahLst/>
            <a:cxnLst/>
            <a:rect l="l" t="t" r="r" b="b"/>
            <a:pathLst>
              <a:path w="7398424" h="5535512">
                <a:moveTo>
                  <a:pt x="0" y="0"/>
                </a:moveTo>
                <a:lnTo>
                  <a:pt x="7398424" y="0"/>
                </a:lnTo>
                <a:lnTo>
                  <a:pt x="7398424" y="5535512"/>
                </a:lnTo>
                <a:lnTo>
                  <a:pt x="0" y="5535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571655" y="1862517"/>
            <a:ext cx="16658511" cy="673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A botnet is a network of compromised devices controlled by an attacker. These devices can include PCs, servers, IoT devices, etc.</a:t>
            </a:r>
          </a:p>
          <a:p>
            <a:pPr marL="742950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999" dirty="0">
              <a:solidFill>
                <a:srgbClr val="000000"/>
              </a:solidFill>
              <a:latin typeface="Times New Roman" panose="02020603050405020304" pitchFamily="18" charset="0"/>
              <a:ea typeface="Arimo"/>
              <a:cs typeface="Times New Roman" panose="02020603050405020304" pitchFamily="18" charset="0"/>
              <a:sym typeface="Arimo"/>
            </a:endParaRPr>
          </a:p>
          <a:p>
            <a:pPr marL="742950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Used for malicious activities like:</a:t>
            </a:r>
          </a:p>
          <a:p>
            <a:pPr marL="1200150" lvl="1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DDoS attacks</a:t>
            </a:r>
          </a:p>
          <a:p>
            <a:pPr marL="1200150" lvl="1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Spam distribution</a:t>
            </a:r>
          </a:p>
          <a:p>
            <a:pPr marL="1200150" lvl="1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Malware propagation</a:t>
            </a:r>
          </a:p>
          <a:p>
            <a:pPr marL="1200150" lvl="1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Crypto mining</a:t>
            </a:r>
          </a:p>
          <a:p>
            <a:pPr marL="1200150" lvl="1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999" dirty="0">
              <a:solidFill>
                <a:srgbClr val="000000"/>
              </a:solidFill>
              <a:latin typeface="Times New Roman" panose="02020603050405020304" pitchFamily="18" charset="0"/>
              <a:ea typeface="Arimo"/>
              <a:cs typeface="Times New Roman" panose="02020603050405020304" pitchFamily="18" charset="0"/>
              <a:sym typeface="Arimo"/>
            </a:endParaRPr>
          </a:p>
          <a:p>
            <a:pPr marL="742950" indent="-742950">
              <a:lnSpc>
                <a:spcPts val="4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999" dirty="0">
                <a:solidFill>
                  <a:srgbClr val="FF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Often used in coordinated DDoS attacks</a:t>
            </a:r>
          </a:p>
          <a:p>
            <a:pPr>
              <a:lnSpc>
                <a:spcPts val="4799"/>
              </a:lnSpc>
              <a:spcBef>
                <a:spcPct val="0"/>
              </a:spcBef>
            </a:pPr>
            <a:r>
              <a:rPr lang="en-US" altLang="zh-TW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     </a:t>
            </a:r>
            <a:endParaRPr lang="en-US" sz="3999" dirty="0">
              <a:solidFill>
                <a:srgbClr val="000000"/>
              </a:solidFill>
              <a:latin typeface="Times New Roman" panose="02020603050405020304" pitchFamily="18" charset="0"/>
              <a:ea typeface="Arimo"/>
              <a:cs typeface="Times New Roman" panose="02020603050405020304" pitchFamily="18" charset="0"/>
              <a:sym typeface="Arimo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2002735-FE56-EBF9-AE20-D8D06CF19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905" y="-13202"/>
            <a:ext cx="11779782" cy="140987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596970" y="296270"/>
            <a:ext cx="7333652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5400" b="1" i="1" dirty="0">
                <a:solidFill>
                  <a:srgbClr val="000000"/>
                </a:solidFill>
                <a:latin typeface="Times New Roman" panose="02020603050405020304" pitchFamily="18" charset="0"/>
                <a:ea typeface="Arimo Bold Italics"/>
                <a:cs typeface="Times New Roman" panose="02020603050405020304" pitchFamily="18" charset="0"/>
                <a:sym typeface="Arimo Bold Italics"/>
              </a:rPr>
              <a:t>Introduction to Botnets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897765" y="2241206"/>
            <a:ext cx="7088926" cy="57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1. Used for Illegal Activities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99791" y="3226105"/>
            <a:ext cx="1595399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Your device may participate in DDoS attacks, spam campaigns, or malware distribution.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7765" y="4245481"/>
            <a:ext cx="9674341" cy="578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2. Decreased Performance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7500" y="5224250"/>
            <a:ext cx="1568398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Bot malware consumes CPU, memory, and bandwidth, making your system slow or unstable.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7765" y="6471617"/>
            <a:ext cx="5688015" cy="578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3. Privacy Risks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99791" y="7445887"/>
            <a:ext cx="1320819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Potential data leaks, including passwords, browsing history, and personal files.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09275F0C-EA44-B48B-1330-832C6577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308" y="-9527"/>
            <a:ext cx="11779782" cy="1409871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081060" y="293381"/>
            <a:ext cx="12110030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800" b="1" i="1" dirty="0">
                <a:solidFill>
                  <a:srgbClr val="000000"/>
                </a:solidFill>
                <a:latin typeface="Times New Roman" panose="02020603050405020304" pitchFamily="18" charset="0"/>
                <a:ea typeface="Arimo Bold Italics"/>
                <a:cs typeface="Times New Roman" panose="02020603050405020304" pitchFamily="18" charset="0"/>
                <a:sym typeface="Arimo Bold Italics"/>
              </a:rPr>
              <a:t>Why Being Part of a Botnet Is Dangerous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669256" y="1588223"/>
            <a:ext cx="1623060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If the traffic shows patterns of SYN, ACK, FIN, or RST flood attacks,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 the model flags the host as potentially part of a botnet.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8A8C464-E16B-30AA-8ECF-908E913B8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37259"/>
              </p:ext>
            </p:extLst>
          </p:nvPr>
        </p:nvGraphicFramePr>
        <p:xfrm>
          <a:off x="1638930" y="2985777"/>
          <a:ext cx="13982070" cy="7226658"/>
        </p:xfrm>
        <a:graphic>
          <a:graphicData uri="http://schemas.openxmlformats.org/drawingml/2006/table">
            <a:tbl>
              <a:tblPr/>
              <a:tblGrid>
                <a:gridCol w="4660690">
                  <a:extLst>
                    <a:ext uri="{9D8B030D-6E8A-4147-A177-3AD203B41FA5}">
                      <a16:colId xmlns:a16="http://schemas.microsoft.com/office/drawing/2014/main" val="3653621230"/>
                    </a:ext>
                  </a:extLst>
                </a:gridCol>
                <a:gridCol w="4660690">
                  <a:extLst>
                    <a:ext uri="{9D8B030D-6E8A-4147-A177-3AD203B41FA5}">
                      <a16:colId xmlns:a16="http://schemas.microsoft.com/office/drawing/2014/main" val="717851534"/>
                    </a:ext>
                  </a:extLst>
                </a:gridCol>
                <a:gridCol w="4660690">
                  <a:extLst>
                    <a:ext uri="{9D8B030D-6E8A-4147-A177-3AD203B41FA5}">
                      <a16:colId xmlns:a16="http://schemas.microsoft.com/office/drawing/2014/main" val="2883085758"/>
                    </a:ext>
                  </a:extLst>
                </a:gridCol>
              </a:tblGrid>
              <a:tr h="838321"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</a:rPr>
                        <a:t>Attack Type</a:t>
                      </a: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</a:rPr>
                        <a:t>Attack Behavior</a:t>
                      </a: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</a:rPr>
                        <a:t>Impact</a:t>
                      </a: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32728"/>
                  </a:ext>
                </a:extLst>
              </a:tr>
              <a:tr h="1608208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</a:rPr>
                        <a:t>SYN Flood</a:t>
                      </a: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Many SYN packets, little or no ACK replies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Exhaust connection table &amp; memory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044077"/>
                  </a:ext>
                </a:extLst>
              </a:tr>
              <a:tr h="1608208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</a:rPr>
                        <a:t>ACK Flood</a:t>
                      </a: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Many ACK packets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Forcing the server to check connection states, causing high CPU usage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059344"/>
                  </a:ext>
                </a:extLst>
              </a:tr>
              <a:tr h="1563713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</a:rPr>
                        <a:t>FIN Flood</a:t>
                      </a: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Many fake FIN packets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 closing non-existent connections, consuming TCP resources.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23314"/>
                  </a:ext>
                </a:extLst>
              </a:tr>
              <a:tr h="1608208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</a:rPr>
                        <a:t>RST Flood</a:t>
                      </a: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Many RST packets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Forcefully terminate existing connections and disrupt stability.</a:t>
                      </a:r>
                      <a:endParaRPr lang="en-US" sz="3600" dirty="0">
                        <a:effectLst/>
                      </a:endParaRPr>
                    </a:p>
                  </a:txBody>
                  <a:tcPr marL="77477" marR="77477" marT="38738" marB="3873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291199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31F991CF-8D59-204F-2F41-57200E3AF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4877" y="2812595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F51C7DC-4CAF-5F30-8982-9CCC1689E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88" y="-13099"/>
            <a:ext cx="11779782" cy="140987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983861" y="294496"/>
            <a:ext cx="12023884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59"/>
              </a:lnSpc>
              <a:spcBef>
                <a:spcPct val="0"/>
              </a:spcBef>
            </a:pPr>
            <a:r>
              <a:rPr lang="en-US" sz="4400" b="1" i="1" dirty="0">
                <a:solidFill>
                  <a:srgbClr val="000000"/>
                </a:solidFill>
                <a:latin typeface="Times New Roman" panose="02020603050405020304" pitchFamily="18" charset="0"/>
                <a:ea typeface="Arimo Bold Italics"/>
                <a:cs typeface="Times New Roman" panose="02020603050405020304" pitchFamily="18" charset="0"/>
                <a:sym typeface="Arimo Bold Italics"/>
              </a:rPr>
              <a:t>Detecting Botnet Behavior via CNN-LSTM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D313D-2558-D78F-5821-E6765AD4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D81C97-7B71-BB20-04A8-201EBACA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187" y="-13710"/>
            <a:ext cx="11942429" cy="1153656"/>
          </a:xfrm>
          <a:solidFill>
            <a:schemeClr val="accent5">
              <a:lumMod val="20000"/>
              <a:lumOff val="80000"/>
            </a:schemeClr>
          </a:solidFill>
        </p:spPr>
        <p:txBody>
          <a:bodyPr rtlCol="0">
            <a:normAutofit/>
          </a:bodyPr>
          <a:lstStyle/>
          <a:p>
            <a:pPr>
              <a:lnSpc>
                <a:spcPts val="5184"/>
              </a:lnSpc>
            </a:pPr>
            <a:r>
              <a:rPr lang="en-US" altLang="zh-TW" sz="4800" b="1" i="1" dirty="0">
                <a:solidFill>
                  <a:srgbClr val="001E2E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CNN-LSTM Model </a:t>
            </a:r>
            <a:r>
              <a:rPr lang="en-US" altLang="zh-TW" sz="4400" b="1" i="1" dirty="0">
                <a:solidFill>
                  <a:srgbClr val="001E2E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[1]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B01A866-E3F8-2BF3-BABC-3D8E23C9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644" y="9598318"/>
            <a:ext cx="6745973" cy="547688"/>
          </a:xfrm>
        </p:spPr>
        <p:txBody>
          <a:bodyPr rtlCol="0"/>
          <a:lstStyle/>
          <a:p>
            <a:pPr rtl="0"/>
            <a:endParaRPr 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7B6714-D407-1D70-81AE-03DF6F8D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03716" y="9598318"/>
            <a:ext cx="706331" cy="547688"/>
          </a:xfrm>
        </p:spPr>
        <p:txBody>
          <a:bodyPr rtlCol="0"/>
          <a:lstStyle/>
          <a:p>
            <a:pPr rtl="0"/>
            <a:endParaRPr lang="zh-TW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D1528C-ECFF-0C03-87FA-90FD699591BC}"/>
              </a:ext>
            </a:extLst>
          </p:cNvPr>
          <p:cNvSpPr/>
          <p:nvPr/>
        </p:nvSpPr>
        <p:spPr>
          <a:xfrm>
            <a:off x="9578340" y="1345568"/>
            <a:ext cx="838200" cy="1153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EF456E-F7C6-A1DC-8125-FA1FD86E9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94" y="2577584"/>
            <a:ext cx="16118865" cy="860207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E775825-893A-D468-F91B-1962AAEB6AAF}"/>
              </a:ext>
            </a:extLst>
          </p:cNvPr>
          <p:cNvSpPr/>
          <p:nvPr/>
        </p:nvSpPr>
        <p:spPr>
          <a:xfrm>
            <a:off x="3124200" y="2522959"/>
            <a:ext cx="2690193" cy="7646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3A6FD9-F8DF-A1B8-6FA2-1B20CF2EBD4C}"/>
              </a:ext>
            </a:extLst>
          </p:cNvPr>
          <p:cNvSpPr/>
          <p:nvPr/>
        </p:nvSpPr>
        <p:spPr>
          <a:xfrm>
            <a:off x="5946563" y="2522958"/>
            <a:ext cx="2322779" cy="76230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791BAB-DA9A-5288-CD5E-453976830AC8}"/>
              </a:ext>
            </a:extLst>
          </p:cNvPr>
          <p:cNvSpPr/>
          <p:nvPr/>
        </p:nvSpPr>
        <p:spPr>
          <a:xfrm>
            <a:off x="8527484" y="2499224"/>
            <a:ext cx="3207316" cy="7646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F47776-FCAB-FC48-EA1E-BAD98FB73BEA}"/>
              </a:ext>
            </a:extLst>
          </p:cNvPr>
          <p:cNvSpPr txBox="1"/>
          <p:nvPr/>
        </p:nvSpPr>
        <p:spPr>
          <a:xfrm>
            <a:off x="554575" y="4476730"/>
            <a:ext cx="18109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Input data</a:t>
            </a:r>
            <a:endParaRPr lang="zh-TW" altLang="en-US" sz="4200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EDD997A-61D7-4E82-E427-BDFE73A41F09}"/>
              </a:ext>
            </a:extLst>
          </p:cNvPr>
          <p:cNvCxnSpPr>
            <a:cxnSpLocks/>
          </p:cNvCxnSpPr>
          <p:nvPr/>
        </p:nvCxnSpPr>
        <p:spPr>
          <a:xfrm flipH="1">
            <a:off x="1319342" y="3861353"/>
            <a:ext cx="723150" cy="6410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F531D26-2544-0D9B-7222-1FBA061A07A4}"/>
              </a:ext>
            </a:extLst>
          </p:cNvPr>
          <p:cNvSpPr txBox="1"/>
          <p:nvPr/>
        </p:nvSpPr>
        <p:spPr>
          <a:xfrm>
            <a:off x="554575" y="1447119"/>
            <a:ext cx="52927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srgbClr val="FF0000"/>
                </a:solidFill>
              </a:rPr>
              <a:t>(1) Convolution</a:t>
            </a:r>
            <a:r>
              <a:rPr lang="zh-TW" altLang="en-US" sz="3000" dirty="0">
                <a:solidFill>
                  <a:srgbClr val="FF0000"/>
                </a:solidFill>
              </a:rPr>
              <a:t> </a:t>
            </a:r>
            <a:r>
              <a:rPr lang="en-US" altLang="zh-TW" sz="3000" dirty="0">
                <a:solidFill>
                  <a:srgbClr val="FF0000"/>
                </a:solidFill>
              </a:rPr>
              <a:t>Layer</a:t>
            </a:r>
            <a:endParaRPr lang="zh-TW" altLang="en-US" sz="3000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CB6E26F-D875-F935-3398-AC7299382477}"/>
              </a:ext>
            </a:extLst>
          </p:cNvPr>
          <p:cNvSpPr txBox="1"/>
          <p:nvPr/>
        </p:nvSpPr>
        <p:spPr>
          <a:xfrm>
            <a:off x="5272669" y="1345568"/>
            <a:ext cx="452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srgbClr val="FF0000"/>
                </a:solidFill>
              </a:rPr>
              <a:t>(2) </a:t>
            </a:r>
            <a:r>
              <a:rPr lang="en-US" altLang="zh-TW" sz="3000" dirty="0" err="1">
                <a:solidFill>
                  <a:srgbClr val="FF0000"/>
                </a:solidFill>
              </a:rPr>
              <a:t>MaxPooling</a:t>
            </a:r>
            <a:r>
              <a:rPr lang="en-US" altLang="zh-TW" sz="3000" dirty="0">
                <a:solidFill>
                  <a:srgbClr val="FF0000"/>
                </a:solidFill>
              </a:rPr>
              <a:t> and </a:t>
            </a:r>
            <a:r>
              <a:rPr lang="en-US" altLang="zh-TW" sz="3000" dirty="0" err="1">
                <a:solidFill>
                  <a:srgbClr val="FF0000"/>
                </a:solidFill>
              </a:rPr>
              <a:t>BatchNormalization</a:t>
            </a:r>
            <a:endParaRPr lang="zh-TW" altLang="en-US" sz="30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6A61A0F-2BD9-3CE8-F144-931CA1539CDA}"/>
              </a:ext>
            </a:extLst>
          </p:cNvPr>
          <p:cNvSpPr txBox="1"/>
          <p:nvPr/>
        </p:nvSpPr>
        <p:spPr>
          <a:xfrm>
            <a:off x="11931304" y="1558682"/>
            <a:ext cx="34737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srgbClr val="FF0000"/>
                </a:solidFill>
              </a:rPr>
              <a:t>(3) LSTM Layer</a:t>
            </a:r>
            <a:endParaRPr lang="zh-TW" altLang="en-US" sz="3000" dirty="0">
              <a:solidFill>
                <a:srgbClr val="FF0000"/>
              </a:solidFill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52FE7BA0-9443-85C8-E1BE-1D84FF2B8DA0}"/>
              </a:ext>
            </a:extLst>
          </p:cNvPr>
          <p:cNvCxnSpPr>
            <a:cxnSpLocks/>
          </p:cNvCxnSpPr>
          <p:nvPr/>
        </p:nvCxnSpPr>
        <p:spPr>
          <a:xfrm flipV="1">
            <a:off x="11778904" y="2329033"/>
            <a:ext cx="1006752" cy="9088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CF358E9-BCF2-021E-41D9-8C026A477090}"/>
              </a:ext>
            </a:extLst>
          </p:cNvPr>
          <p:cNvCxnSpPr>
            <a:cxnSpLocks/>
          </p:cNvCxnSpPr>
          <p:nvPr/>
        </p:nvCxnSpPr>
        <p:spPr>
          <a:xfrm flipH="1" flipV="1">
            <a:off x="2374392" y="2027689"/>
            <a:ext cx="706710" cy="10797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9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3172566" y="2499224"/>
            <a:ext cx="15003502" cy="8701983"/>
            <a:chOff x="0" y="0"/>
            <a:chExt cx="20004670" cy="116026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004660" cy="11602593"/>
            </a:xfrm>
            <a:custGeom>
              <a:avLst/>
              <a:gdLst/>
              <a:ahLst/>
              <a:cxnLst/>
              <a:rect l="l" t="t" r="r" b="b"/>
              <a:pathLst>
                <a:path w="20004660" h="11602593">
                  <a:moveTo>
                    <a:pt x="0" y="0"/>
                  </a:moveTo>
                  <a:lnTo>
                    <a:pt x="20004660" y="0"/>
                  </a:lnTo>
                  <a:lnTo>
                    <a:pt x="20004660" y="11602593"/>
                  </a:lnTo>
                  <a:lnTo>
                    <a:pt x="0" y="11602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63" r="-266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1932" y="1508882"/>
            <a:ext cx="2761159" cy="5346075"/>
            <a:chOff x="0" y="0"/>
            <a:chExt cx="3681546" cy="712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81603" cy="7128129"/>
            </a:xfrm>
            <a:custGeom>
              <a:avLst/>
              <a:gdLst/>
              <a:ahLst/>
              <a:cxnLst/>
              <a:rect l="l" t="t" r="r" b="b"/>
              <a:pathLst>
                <a:path w="3681603" h="7128129">
                  <a:moveTo>
                    <a:pt x="0" y="0"/>
                  </a:moveTo>
                  <a:lnTo>
                    <a:pt x="3681603" y="0"/>
                  </a:lnTo>
                  <a:lnTo>
                    <a:pt x="3681603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159796" y="7955363"/>
            <a:ext cx="3231471" cy="375752"/>
          </a:xfrm>
          <a:custGeom>
            <a:avLst/>
            <a:gdLst/>
            <a:ahLst/>
            <a:cxnLst/>
            <a:rect l="l" t="t" r="r" b="b"/>
            <a:pathLst>
              <a:path w="3231471" h="375752">
                <a:moveTo>
                  <a:pt x="0" y="0"/>
                </a:moveTo>
                <a:lnTo>
                  <a:pt x="3231471" y="0"/>
                </a:lnTo>
                <a:lnTo>
                  <a:pt x="3231471" y="375753"/>
                </a:lnTo>
                <a:lnTo>
                  <a:pt x="0" y="3757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12419095" y="8767762"/>
            <a:ext cx="4380905" cy="1062038"/>
          </a:xfrm>
          <a:custGeom>
            <a:avLst/>
            <a:gdLst/>
            <a:ahLst/>
            <a:cxnLst/>
            <a:rect l="l" t="t" r="r" b="b"/>
            <a:pathLst>
              <a:path w="4380905" h="1062038">
                <a:moveTo>
                  <a:pt x="0" y="0"/>
                </a:moveTo>
                <a:lnTo>
                  <a:pt x="4380904" y="0"/>
                </a:lnTo>
                <a:lnTo>
                  <a:pt x="4380904" y="1062038"/>
                </a:lnTo>
                <a:lnTo>
                  <a:pt x="0" y="1062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標題 2">
            <a:extLst>
              <a:ext uri="{FF2B5EF4-FFF2-40B4-BE49-F238E27FC236}">
                <a16:creationId xmlns:a16="http://schemas.microsoft.com/office/drawing/2014/main" id="{37681F0D-F983-BE2B-7F1B-89663BDC0437}"/>
              </a:ext>
            </a:extLst>
          </p:cNvPr>
          <p:cNvSpPr txBox="1">
            <a:spLocks/>
          </p:cNvSpPr>
          <p:nvPr/>
        </p:nvSpPr>
        <p:spPr>
          <a:xfrm>
            <a:off x="2619069" y="-9526"/>
            <a:ext cx="11942429" cy="1153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184"/>
              </a:lnSpc>
            </a:pPr>
            <a:endParaRPr lang="en-US" altLang="zh-TW" b="1" i="1" dirty="0">
              <a:solidFill>
                <a:srgbClr val="001E2E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2559450" y="-13415"/>
            <a:ext cx="11942428" cy="1153656"/>
            <a:chOff x="0" y="0"/>
            <a:chExt cx="15923238" cy="15382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3237" cy="1538208"/>
            </a:xfrm>
            <a:custGeom>
              <a:avLst/>
              <a:gdLst/>
              <a:ahLst/>
              <a:cxnLst/>
              <a:rect l="l" t="t" r="r" b="b"/>
              <a:pathLst>
                <a:path w="15923237" h="1538208">
                  <a:moveTo>
                    <a:pt x="0" y="0"/>
                  </a:moveTo>
                  <a:lnTo>
                    <a:pt x="15923237" y="0"/>
                  </a:lnTo>
                  <a:lnTo>
                    <a:pt x="15923237" y="1538208"/>
                  </a:lnTo>
                  <a:lnTo>
                    <a:pt x="0" y="15382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3238" cy="1576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i="1" dirty="0">
                  <a:solidFill>
                    <a:srgbClr val="001E2E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Convolution layer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529166" y="1752802"/>
            <a:ext cx="1806096" cy="6309908"/>
            <a:chOff x="0" y="0"/>
            <a:chExt cx="2408128" cy="84132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08174" cy="8413242"/>
            </a:xfrm>
            <a:custGeom>
              <a:avLst/>
              <a:gdLst/>
              <a:ahLst/>
              <a:cxnLst/>
              <a:rect l="l" t="t" r="r" b="b"/>
              <a:pathLst>
                <a:path w="2408174" h="8413242">
                  <a:moveTo>
                    <a:pt x="0" y="0"/>
                  </a:moveTo>
                  <a:lnTo>
                    <a:pt x="2408174" y="0"/>
                  </a:lnTo>
                  <a:lnTo>
                    <a:pt x="2408174" y="8413242"/>
                  </a:lnTo>
                  <a:lnTo>
                    <a:pt x="0" y="8413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5400820" y="2499224"/>
            <a:ext cx="4490093" cy="2286467"/>
            <a:chOff x="0" y="0"/>
            <a:chExt cx="5570026" cy="28363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69966" cy="2836418"/>
            </a:xfrm>
            <a:custGeom>
              <a:avLst/>
              <a:gdLst/>
              <a:ahLst/>
              <a:cxnLst/>
              <a:rect l="l" t="t" r="r" b="b"/>
              <a:pathLst>
                <a:path w="5569966" h="2836418">
                  <a:moveTo>
                    <a:pt x="0" y="0"/>
                  </a:moveTo>
                  <a:lnTo>
                    <a:pt x="5569966" y="0"/>
                  </a:lnTo>
                  <a:lnTo>
                    <a:pt x="5569966" y="2836418"/>
                  </a:lnTo>
                  <a:lnTo>
                    <a:pt x="0" y="283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5799728" y="6401797"/>
            <a:ext cx="2967594" cy="1133844"/>
            <a:chOff x="0" y="0"/>
            <a:chExt cx="3956792" cy="15117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56812" cy="1511808"/>
            </a:xfrm>
            <a:custGeom>
              <a:avLst/>
              <a:gdLst/>
              <a:ahLst/>
              <a:cxnLst/>
              <a:rect l="l" t="t" r="r" b="b"/>
              <a:pathLst>
                <a:path w="3956812" h="1511808">
                  <a:moveTo>
                    <a:pt x="0" y="0"/>
                  </a:moveTo>
                  <a:lnTo>
                    <a:pt x="3956812" y="0"/>
                  </a:lnTo>
                  <a:lnTo>
                    <a:pt x="3956812" y="1511808"/>
                  </a:lnTo>
                  <a:lnTo>
                    <a:pt x="0" y="1511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890914" y="3128341"/>
            <a:ext cx="6757616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To avoid the covariance shift caused by using the output of the previous layer as the input to the next layer in deep neural networks.</a:t>
            </a:r>
          </a:p>
        </p:txBody>
      </p:sp>
      <p:sp>
        <p:nvSpPr>
          <p:cNvPr id="21" name="標題 2">
            <a:extLst>
              <a:ext uri="{FF2B5EF4-FFF2-40B4-BE49-F238E27FC236}">
                <a16:creationId xmlns:a16="http://schemas.microsoft.com/office/drawing/2014/main" id="{6296F20C-EE71-E895-60F3-F49474486717}"/>
              </a:ext>
            </a:extLst>
          </p:cNvPr>
          <p:cNvSpPr txBox="1">
            <a:spLocks/>
          </p:cNvSpPr>
          <p:nvPr/>
        </p:nvSpPr>
        <p:spPr>
          <a:xfrm>
            <a:off x="3172785" y="-17125"/>
            <a:ext cx="11942429" cy="1153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184"/>
              </a:lnSpc>
            </a:pPr>
            <a:endParaRPr lang="en-US" altLang="zh-TW" b="1" i="1" dirty="0">
              <a:solidFill>
                <a:srgbClr val="001E2E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3172786" y="0"/>
            <a:ext cx="11942428" cy="1153656"/>
            <a:chOff x="0" y="0"/>
            <a:chExt cx="15923238" cy="15382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3237" cy="1538208"/>
            </a:xfrm>
            <a:custGeom>
              <a:avLst/>
              <a:gdLst/>
              <a:ahLst/>
              <a:cxnLst/>
              <a:rect l="l" t="t" r="r" b="b"/>
              <a:pathLst>
                <a:path w="15923237" h="1538208">
                  <a:moveTo>
                    <a:pt x="0" y="0"/>
                  </a:moveTo>
                  <a:lnTo>
                    <a:pt x="15923237" y="0"/>
                  </a:lnTo>
                  <a:lnTo>
                    <a:pt x="15923237" y="1538208"/>
                  </a:lnTo>
                  <a:lnTo>
                    <a:pt x="0" y="15382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15923238" cy="15001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i="1" dirty="0" err="1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MaxPooling</a:t>
              </a:r>
              <a:r>
                <a:rPr lang="en-US" sz="4800" b="1" i="1" dirty="0">
                  <a:solidFill>
                    <a:srgbClr val="000000"/>
                  </a:solidFill>
                  <a:latin typeface="Arimo Bold Italics"/>
                  <a:ea typeface="Arimo Bold Italics"/>
                  <a:cs typeface="Arimo Bold Italics"/>
                  <a:sym typeface="Arimo Bold Italics"/>
                </a:rPr>
                <a:t> and Batch Normalization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34650" y="1786296"/>
            <a:ext cx="2297630" cy="6058425"/>
            <a:chOff x="0" y="0"/>
            <a:chExt cx="3063506" cy="80779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63494" cy="8077962"/>
            </a:xfrm>
            <a:custGeom>
              <a:avLst/>
              <a:gdLst/>
              <a:ahLst/>
              <a:cxnLst/>
              <a:rect l="l" t="t" r="r" b="b"/>
              <a:pathLst>
                <a:path w="3063494" h="8077962">
                  <a:moveTo>
                    <a:pt x="0" y="0"/>
                  </a:moveTo>
                  <a:lnTo>
                    <a:pt x="3063494" y="0"/>
                  </a:lnTo>
                  <a:lnTo>
                    <a:pt x="3063494" y="8077962"/>
                  </a:lnTo>
                  <a:lnTo>
                    <a:pt x="0" y="807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3184507" y="2980829"/>
            <a:ext cx="14898053" cy="7696372"/>
            <a:chOff x="34964" y="58419"/>
            <a:chExt cx="19864071" cy="10261830"/>
          </a:xfrm>
        </p:grpSpPr>
        <p:sp>
          <p:nvSpPr>
            <p:cNvPr id="17" name="Freeform 17"/>
            <p:cNvSpPr/>
            <p:nvPr/>
          </p:nvSpPr>
          <p:spPr>
            <a:xfrm>
              <a:off x="34964" y="58419"/>
              <a:ext cx="19864071" cy="10261830"/>
            </a:xfrm>
            <a:custGeom>
              <a:avLst/>
              <a:gdLst/>
              <a:ahLst/>
              <a:cxnLst/>
              <a:rect l="l" t="t" r="r" b="b"/>
              <a:pathLst>
                <a:path w="19864070" h="10661650">
                  <a:moveTo>
                    <a:pt x="0" y="0"/>
                  </a:moveTo>
                  <a:lnTo>
                    <a:pt x="19864070" y="0"/>
                  </a:lnTo>
                  <a:lnTo>
                    <a:pt x="19864070" y="10661650"/>
                  </a:lnTo>
                  <a:lnTo>
                    <a:pt x="0" y="1066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518" b="-6517"/>
              </a:stretch>
            </a:blipFill>
          </p:spPr>
          <p:txBody>
            <a:bodyPr/>
            <a:lstStyle/>
            <a:p>
              <a:endParaRPr lang="zh-TW" altLang="en-US" dirty="0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3604629" y="1295544"/>
            <a:ext cx="9224867" cy="764671"/>
            <a:chOff x="0" y="0"/>
            <a:chExt cx="12299822" cy="10195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299823" cy="1019556"/>
            </a:xfrm>
            <a:custGeom>
              <a:avLst/>
              <a:gdLst/>
              <a:ahLst/>
              <a:cxnLst/>
              <a:rect l="l" t="t" r="r" b="b"/>
              <a:pathLst>
                <a:path w="12299823" h="1019556">
                  <a:moveTo>
                    <a:pt x="0" y="0"/>
                  </a:moveTo>
                  <a:lnTo>
                    <a:pt x="12299823" y="0"/>
                  </a:lnTo>
                  <a:lnTo>
                    <a:pt x="12299823" y="1019556"/>
                  </a:lnTo>
                  <a:lnTo>
                    <a:pt x="0" y="1019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72521" y="2922726"/>
            <a:ext cx="3845202" cy="7237566"/>
            <a:chOff x="0" y="0"/>
            <a:chExt cx="5126936" cy="96500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6990" cy="9650095"/>
            </a:xfrm>
            <a:custGeom>
              <a:avLst/>
              <a:gdLst/>
              <a:ahLst/>
              <a:cxnLst/>
              <a:rect l="l" t="t" r="r" b="b"/>
              <a:pathLst>
                <a:path w="5126990" h="9650095">
                  <a:moveTo>
                    <a:pt x="19050" y="0"/>
                  </a:moveTo>
                  <a:lnTo>
                    <a:pt x="5107940" y="0"/>
                  </a:lnTo>
                  <a:cubicBezTo>
                    <a:pt x="5118481" y="0"/>
                    <a:pt x="5126990" y="8509"/>
                    <a:pt x="5126990" y="19050"/>
                  </a:cubicBezTo>
                  <a:lnTo>
                    <a:pt x="5126990" y="9631045"/>
                  </a:lnTo>
                  <a:cubicBezTo>
                    <a:pt x="5126990" y="9641586"/>
                    <a:pt x="5118481" y="9650095"/>
                    <a:pt x="5107940" y="9650095"/>
                  </a:cubicBezTo>
                  <a:lnTo>
                    <a:pt x="19050" y="9650095"/>
                  </a:lnTo>
                  <a:cubicBezTo>
                    <a:pt x="8509" y="9650095"/>
                    <a:pt x="0" y="9641586"/>
                    <a:pt x="0" y="963104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9631045"/>
                  </a:lnTo>
                  <a:lnTo>
                    <a:pt x="19050" y="9631045"/>
                  </a:lnTo>
                  <a:lnTo>
                    <a:pt x="19050" y="9611995"/>
                  </a:lnTo>
                  <a:lnTo>
                    <a:pt x="5107940" y="9611995"/>
                  </a:lnTo>
                  <a:lnTo>
                    <a:pt x="5107940" y="9631045"/>
                  </a:lnTo>
                  <a:lnTo>
                    <a:pt x="5088890" y="9631045"/>
                  </a:lnTo>
                  <a:lnTo>
                    <a:pt x="5088890" y="19050"/>
                  </a:lnTo>
                  <a:lnTo>
                    <a:pt x="5107940" y="19050"/>
                  </a:lnTo>
                  <a:lnTo>
                    <a:pt x="510794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46842" y="2922726"/>
            <a:ext cx="3845202" cy="7237566"/>
            <a:chOff x="0" y="0"/>
            <a:chExt cx="5126936" cy="96500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26990" cy="9650095"/>
            </a:xfrm>
            <a:custGeom>
              <a:avLst/>
              <a:gdLst/>
              <a:ahLst/>
              <a:cxnLst/>
              <a:rect l="l" t="t" r="r" b="b"/>
              <a:pathLst>
                <a:path w="5126990" h="9650095">
                  <a:moveTo>
                    <a:pt x="19050" y="0"/>
                  </a:moveTo>
                  <a:lnTo>
                    <a:pt x="5107940" y="0"/>
                  </a:lnTo>
                  <a:cubicBezTo>
                    <a:pt x="5118481" y="0"/>
                    <a:pt x="5126990" y="8509"/>
                    <a:pt x="5126990" y="19050"/>
                  </a:cubicBezTo>
                  <a:lnTo>
                    <a:pt x="5126990" y="9631045"/>
                  </a:lnTo>
                  <a:cubicBezTo>
                    <a:pt x="5126990" y="9641586"/>
                    <a:pt x="5118481" y="9650095"/>
                    <a:pt x="5107940" y="9650095"/>
                  </a:cubicBezTo>
                  <a:lnTo>
                    <a:pt x="19050" y="9650095"/>
                  </a:lnTo>
                  <a:cubicBezTo>
                    <a:pt x="8509" y="9650095"/>
                    <a:pt x="0" y="9641586"/>
                    <a:pt x="0" y="963104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9631045"/>
                  </a:lnTo>
                  <a:lnTo>
                    <a:pt x="19050" y="9631045"/>
                  </a:lnTo>
                  <a:lnTo>
                    <a:pt x="19050" y="9611995"/>
                  </a:lnTo>
                  <a:lnTo>
                    <a:pt x="5107940" y="9611995"/>
                  </a:lnTo>
                  <a:lnTo>
                    <a:pt x="5107940" y="9631045"/>
                  </a:lnTo>
                  <a:lnTo>
                    <a:pt x="5088890" y="9631045"/>
                  </a:lnTo>
                  <a:lnTo>
                    <a:pt x="5088890" y="19050"/>
                  </a:lnTo>
                  <a:lnTo>
                    <a:pt x="5107940" y="19050"/>
                  </a:lnTo>
                  <a:lnTo>
                    <a:pt x="510794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109480" y="2910422"/>
            <a:ext cx="5254833" cy="7237566"/>
            <a:chOff x="0" y="0"/>
            <a:chExt cx="7006444" cy="96500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6463" cy="9650095"/>
            </a:xfrm>
            <a:custGeom>
              <a:avLst/>
              <a:gdLst/>
              <a:ahLst/>
              <a:cxnLst/>
              <a:rect l="l" t="t" r="r" b="b"/>
              <a:pathLst>
                <a:path w="7006463" h="9650095">
                  <a:moveTo>
                    <a:pt x="19050" y="0"/>
                  </a:moveTo>
                  <a:lnTo>
                    <a:pt x="6987413" y="0"/>
                  </a:lnTo>
                  <a:cubicBezTo>
                    <a:pt x="6997954" y="0"/>
                    <a:pt x="7006463" y="8509"/>
                    <a:pt x="7006463" y="19050"/>
                  </a:cubicBezTo>
                  <a:lnTo>
                    <a:pt x="7006463" y="9631045"/>
                  </a:lnTo>
                  <a:cubicBezTo>
                    <a:pt x="7006463" y="9641586"/>
                    <a:pt x="6997954" y="9650095"/>
                    <a:pt x="6987413" y="9650095"/>
                  </a:cubicBezTo>
                  <a:lnTo>
                    <a:pt x="19050" y="9650095"/>
                  </a:lnTo>
                  <a:cubicBezTo>
                    <a:pt x="8509" y="9650095"/>
                    <a:pt x="0" y="9641586"/>
                    <a:pt x="0" y="963104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9631045"/>
                  </a:lnTo>
                  <a:lnTo>
                    <a:pt x="19050" y="9631045"/>
                  </a:lnTo>
                  <a:lnTo>
                    <a:pt x="19050" y="9611995"/>
                  </a:lnTo>
                  <a:lnTo>
                    <a:pt x="6987413" y="9611995"/>
                  </a:lnTo>
                  <a:lnTo>
                    <a:pt x="6987413" y="9631045"/>
                  </a:lnTo>
                  <a:lnTo>
                    <a:pt x="6968363" y="9631045"/>
                  </a:lnTo>
                  <a:lnTo>
                    <a:pt x="6968363" y="19050"/>
                  </a:lnTo>
                  <a:lnTo>
                    <a:pt x="6987413" y="19050"/>
                  </a:lnTo>
                  <a:lnTo>
                    <a:pt x="698741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053658" y="4495554"/>
            <a:ext cx="2262495" cy="1728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Decide how much of the past memory to retain.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03912" y="1490982"/>
            <a:ext cx="5250597" cy="89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Decide how much information should be updated.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72990" y="8482632"/>
            <a:ext cx="3312441" cy="131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Determine the newly added content.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49140" y="1920750"/>
            <a:ext cx="4458246" cy="48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Weight of the input state.</a:t>
            </a:r>
          </a:p>
        </p:txBody>
      </p:sp>
      <p:sp>
        <p:nvSpPr>
          <p:cNvPr id="30" name="AutoShape 30"/>
          <p:cNvSpPr/>
          <p:nvPr/>
        </p:nvSpPr>
        <p:spPr>
          <a:xfrm rot="-1394141">
            <a:off x="10854539" y="2534756"/>
            <a:ext cx="2063400" cy="0"/>
          </a:xfrm>
          <a:prstGeom prst="line">
            <a:avLst/>
          </a:prstGeom>
          <a:ln w="9525" cap="rnd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7574082" y="1970678"/>
            <a:ext cx="4458246" cy="48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Weight of the hidden state.</a:t>
            </a:r>
          </a:p>
        </p:txBody>
      </p:sp>
      <p:sp>
        <p:nvSpPr>
          <p:cNvPr id="32" name="標題 2">
            <a:extLst>
              <a:ext uri="{FF2B5EF4-FFF2-40B4-BE49-F238E27FC236}">
                <a16:creationId xmlns:a16="http://schemas.microsoft.com/office/drawing/2014/main" id="{A781B37A-5152-B0B0-C512-22E20ACC64CA}"/>
              </a:ext>
            </a:extLst>
          </p:cNvPr>
          <p:cNvSpPr txBox="1">
            <a:spLocks/>
          </p:cNvSpPr>
          <p:nvPr/>
        </p:nvSpPr>
        <p:spPr>
          <a:xfrm>
            <a:off x="2810025" y="-33839"/>
            <a:ext cx="11942429" cy="1153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184"/>
              </a:lnSpc>
            </a:pPr>
            <a:endParaRPr lang="en-US" altLang="zh-TW" b="1" i="1" dirty="0">
              <a:solidFill>
                <a:srgbClr val="001E2E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2640931" y="6957"/>
            <a:ext cx="11942428" cy="1153656"/>
            <a:chOff x="0" y="0"/>
            <a:chExt cx="15923238" cy="15382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3237" cy="1538208"/>
            </a:xfrm>
            <a:custGeom>
              <a:avLst/>
              <a:gdLst/>
              <a:ahLst/>
              <a:cxnLst/>
              <a:rect l="l" t="t" r="r" b="b"/>
              <a:pathLst>
                <a:path w="15923237" h="1538208">
                  <a:moveTo>
                    <a:pt x="0" y="0"/>
                  </a:moveTo>
                  <a:lnTo>
                    <a:pt x="15923237" y="0"/>
                  </a:lnTo>
                  <a:lnTo>
                    <a:pt x="15923237" y="1538208"/>
                  </a:lnTo>
                  <a:lnTo>
                    <a:pt x="0" y="15382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3238" cy="1576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i="1" dirty="0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LSTM Layer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853863" y="1242606"/>
            <a:ext cx="14580273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model achieves high accuracy, has an intuitive architecture, and is highly practical.</a:t>
            </a:r>
          </a:p>
        </p:txBody>
      </p:sp>
      <p:sp>
        <p:nvSpPr>
          <p:cNvPr id="18" name="標題 2">
            <a:extLst>
              <a:ext uri="{FF2B5EF4-FFF2-40B4-BE49-F238E27FC236}">
                <a16:creationId xmlns:a16="http://schemas.microsoft.com/office/drawing/2014/main" id="{AC5D2F24-2D7B-5E92-7CCC-C193C4BAA0E0}"/>
              </a:ext>
            </a:extLst>
          </p:cNvPr>
          <p:cNvSpPr txBox="1">
            <a:spLocks/>
          </p:cNvSpPr>
          <p:nvPr/>
        </p:nvSpPr>
        <p:spPr>
          <a:xfrm>
            <a:off x="3343973" y="27662"/>
            <a:ext cx="11942429" cy="1153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184"/>
              </a:lnSpc>
            </a:pPr>
            <a:endParaRPr lang="en-US" altLang="zh-TW" b="1" i="1" dirty="0">
              <a:solidFill>
                <a:srgbClr val="001E2E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43567" y="216398"/>
            <a:ext cx="516557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800" b="1" i="1" dirty="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CNN-LSTM report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5F1CE48-6152-91CA-3B56-768A7FF4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783" y="2875866"/>
            <a:ext cx="7913513" cy="433387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A81C58E-CEE8-BDAF-88F4-18E3FC693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72" y="6226082"/>
            <a:ext cx="4930860" cy="39033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7980D2DA-F849-0049-6F8D-7A2AFA1E1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779" y="1855901"/>
            <a:ext cx="5534025" cy="4333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4898383" y="1368218"/>
            <a:ext cx="8491234" cy="7313819"/>
          </a:xfrm>
          <a:custGeom>
            <a:avLst/>
            <a:gdLst/>
            <a:ahLst/>
            <a:cxnLst/>
            <a:rect l="l" t="t" r="r" b="b"/>
            <a:pathLst>
              <a:path w="8491234" h="7313819">
                <a:moveTo>
                  <a:pt x="0" y="0"/>
                </a:moveTo>
                <a:lnTo>
                  <a:pt x="8491234" y="0"/>
                </a:lnTo>
                <a:lnTo>
                  <a:pt x="8491234" y="7313820"/>
                </a:lnTo>
                <a:lnTo>
                  <a:pt x="0" y="7313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AA8D7A15-08C9-5D15-82F0-F1BA4D68D98E}"/>
              </a:ext>
            </a:extLst>
          </p:cNvPr>
          <p:cNvSpPr txBox="1">
            <a:spLocks/>
          </p:cNvSpPr>
          <p:nvPr/>
        </p:nvSpPr>
        <p:spPr>
          <a:xfrm>
            <a:off x="2833782" y="0"/>
            <a:ext cx="11942429" cy="1153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184"/>
              </a:lnSpc>
            </a:pPr>
            <a:endParaRPr lang="en-US" altLang="zh-TW" b="1" i="1" dirty="0">
              <a:solidFill>
                <a:srgbClr val="001E2E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39000" y="205353"/>
            <a:ext cx="3249316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800" b="1" i="1" dirty="0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Flow Chart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390" end="1853"/>
                </p14:media>
              </p:ext>
            </p:extLst>
          </p:nvPr>
        </p:nvPicPr>
        <p:blipFill>
          <a:blip r:embed="rId4"/>
          <a:srcRect l="257" r="5372" b="2695"/>
          <a:stretch>
            <a:fillRect/>
          </a:stretch>
        </p:blipFill>
        <p:spPr>
          <a:xfrm>
            <a:off x="1303754" y="1139946"/>
            <a:ext cx="15295419" cy="887120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0E0CBF5-AEF2-AFA8-21FA-C991DAC50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389" y="-82668"/>
            <a:ext cx="11779782" cy="93723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92569" y="-172300"/>
            <a:ext cx="11942429" cy="11822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184"/>
              </a:lnSpc>
            </a:pPr>
            <a:r>
              <a:rPr lang="en-US" sz="4800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DEMO - ACK flood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550" end="1570"/>
                </p14:media>
              </p:ext>
            </p:extLst>
          </p:nvPr>
        </p:nvPicPr>
        <p:blipFill>
          <a:blip r:embed="rId4"/>
          <a:srcRect l="657" r="657"/>
          <a:stretch>
            <a:fillRect/>
          </a:stretch>
        </p:blipFill>
        <p:spPr>
          <a:xfrm>
            <a:off x="1403576" y="1139946"/>
            <a:ext cx="15480849" cy="8824084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9CB14AA9-2BB6-5EE7-DB10-5F8C2E7BC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173" y="0"/>
            <a:ext cx="11779782" cy="93723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827527" y="-93913"/>
            <a:ext cx="11942428" cy="11822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184"/>
              </a:lnSpc>
            </a:pPr>
            <a:r>
              <a:rPr lang="en-US" sz="4800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DEMO - SYN flood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580" end="1886"/>
                </p14:media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028700" y="1139946"/>
            <a:ext cx="15831825" cy="890540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8E2D0AC-FFAF-B8F3-1765-7E7ABABC9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173" y="0"/>
            <a:ext cx="11779782" cy="93723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908850" y="-81995"/>
            <a:ext cx="11942428" cy="1153656"/>
            <a:chOff x="0" y="0"/>
            <a:chExt cx="15923238" cy="15382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923237" cy="1538208"/>
            </a:xfrm>
            <a:custGeom>
              <a:avLst/>
              <a:gdLst/>
              <a:ahLst/>
              <a:cxnLst/>
              <a:rect l="l" t="t" r="r" b="b"/>
              <a:pathLst>
                <a:path w="15923237" h="1538208">
                  <a:moveTo>
                    <a:pt x="0" y="0"/>
                  </a:moveTo>
                  <a:lnTo>
                    <a:pt x="15923237" y="0"/>
                  </a:lnTo>
                  <a:lnTo>
                    <a:pt x="15923237" y="1538208"/>
                  </a:lnTo>
                  <a:lnTo>
                    <a:pt x="0" y="15382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923238" cy="1576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i="1" dirty="0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DEMO  - FIN flood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620" end="2076"/>
                </p14:media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217247" y="1028700"/>
            <a:ext cx="15853506" cy="891759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60C53CA-FFD4-843F-F60A-86AE11F19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0"/>
            <a:ext cx="11779782" cy="93723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048686" y="-129718"/>
            <a:ext cx="12909517" cy="2335888"/>
            <a:chOff x="0" y="-1576310"/>
            <a:chExt cx="17212690" cy="31145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923237" cy="1538208"/>
            </a:xfrm>
            <a:custGeom>
              <a:avLst/>
              <a:gdLst/>
              <a:ahLst/>
              <a:cxnLst/>
              <a:rect l="l" t="t" r="r" b="b"/>
              <a:pathLst>
                <a:path w="15923237" h="1538208">
                  <a:moveTo>
                    <a:pt x="0" y="0"/>
                  </a:moveTo>
                  <a:lnTo>
                    <a:pt x="15923237" y="0"/>
                  </a:lnTo>
                  <a:lnTo>
                    <a:pt x="15923237" y="1538208"/>
                  </a:lnTo>
                  <a:lnTo>
                    <a:pt x="0" y="15382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9452" y="-1576310"/>
              <a:ext cx="15923238" cy="1576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i="1" dirty="0">
                  <a:solidFill>
                    <a:srgbClr val="000000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DEMO - RST flood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3708" y="1636646"/>
            <a:ext cx="17614495" cy="5895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6" lvl="1" indent="-431803" algn="just">
              <a:lnSpc>
                <a:spcPts val="788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Propose a hybrid CNN-LSTM model for real-time detection of abnormal wireless network traffic.</a:t>
            </a:r>
          </a:p>
          <a:p>
            <a:pPr marL="863606" lvl="1" indent="-431803" algn="just">
              <a:lnSpc>
                <a:spcPts val="788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Successfully detects SYN, FIN, ACK, and RST flood attacks in real time and sends alerts to the client.</a:t>
            </a:r>
          </a:p>
          <a:p>
            <a:pPr marL="863606" lvl="1" indent="-431803" algn="just">
              <a:lnSpc>
                <a:spcPts val="788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Future work aims to expand detection capabilities to cover a wider range of attack types.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687870C-A65F-EE92-70F2-ACF617CFF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09" y="0"/>
            <a:ext cx="11779782" cy="118223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254109" y="24391"/>
            <a:ext cx="11942428" cy="11822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184"/>
              </a:lnSpc>
            </a:pPr>
            <a:r>
              <a:rPr lang="en-US" sz="4800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CONCLUSION AND FUTURE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9578340" y="1345568"/>
            <a:ext cx="838200" cy="1153656"/>
            <a:chOff x="0" y="0"/>
            <a:chExt cx="1117600" cy="15382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7600" cy="1538224"/>
            </a:xfrm>
            <a:custGeom>
              <a:avLst/>
              <a:gdLst/>
              <a:ahLst/>
              <a:cxnLst/>
              <a:rect l="l" t="t" r="r" b="b"/>
              <a:pathLst>
                <a:path w="1117600" h="1538224">
                  <a:moveTo>
                    <a:pt x="0" y="0"/>
                  </a:moveTo>
                  <a:lnTo>
                    <a:pt x="1117600" y="0"/>
                  </a:lnTo>
                  <a:lnTo>
                    <a:pt x="1117600" y="1538224"/>
                  </a:lnTo>
                  <a:lnTo>
                    <a:pt x="0" y="15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59276" y="1239603"/>
            <a:ext cx="12772778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lang="en-US" sz="3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Halbouni, A., Gunawan, T. S., Habaebi, M. H., Halbouni, M., Kartiwi, M., &amp; Ahmad, R. (2022). CNN-LSTM: hybrid deep neural network for network intrusion detection system. </a:t>
            </a:r>
            <a:r>
              <a:rPr lang="en-US" sz="3000" i="1">
                <a:solidFill>
                  <a:srgbClr val="222222"/>
                </a:solidFill>
                <a:latin typeface="Arial Italics"/>
                <a:ea typeface="Arial Italics"/>
                <a:cs typeface="Arial Italics"/>
                <a:sym typeface="Arial Italics"/>
              </a:rPr>
              <a:t>IEEE Access</a:t>
            </a:r>
            <a:r>
              <a:rPr lang="en-US" sz="3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lang="en-US" sz="3000" i="1">
                <a:solidFill>
                  <a:srgbClr val="222222"/>
                </a:solidFill>
                <a:latin typeface="Arial Italics"/>
                <a:ea typeface="Arial Italics"/>
                <a:cs typeface="Arial Italics"/>
                <a:sym typeface="Arial Italics"/>
              </a:rPr>
              <a:t>10</a:t>
            </a:r>
            <a:r>
              <a:rPr lang="en-US" sz="3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 99837-99849.</a:t>
            </a:r>
          </a:p>
          <a:p>
            <a:pPr algn="l">
              <a:lnSpc>
                <a:spcPts val="5400"/>
              </a:lnSpc>
            </a:pPr>
            <a:endParaRPr lang="en-US" sz="3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2E1AC64-9D71-0D03-4F4B-3141FDC4C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173" y="0"/>
            <a:ext cx="11779782" cy="937236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3041331" y="-72669"/>
            <a:ext cx="12205337" cy="2322177"/>
            <a:chOff x="-350547" y="-1558028"/>
            <a:chExt cx="16273784" cy="30962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3237" cy="1538208"/>
            </a:xfrm>
            <a:custGeom>
              <a:avLst/>
              <a:gdLst/>
              <a:ahLst/>
              <a:cxnLst/>
              <a:rect l="l" t="t" r="r" b="b"/>
              <a:pathLst>
                <a:path w="15923237" h="1538208">
                  <a:moveTo>
                    <a:pt x="0" y="0"/>
                  </a:moveTo>
                  <a:lnTo>
                    <a:pt x="15923237" y="0"/>
                  </a:lnTo>
                  <a:lnTo>
                    <a:pt x="15923237" y="1538208"/>
                  </a:lnTo>
                  <a:lnTo>
                    <a:pt x="0" y="15382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350547" y="-1558028"/>
              <a:ext cx="15923238" cy="1576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i="1" dirty="0">
                  <a:solidFill>
                    <a:srgbClr val="001E2E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Reference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045754">
            <a:off x="-67226" y="514350"/>
            <a:ext cx="481402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rot="5877444">
            <a:off x="-4287263" y="4907756"/>
            <a:ext cx="993017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AutoShape 4"/>
          <p:cNvSpPr/>
          <p:nvPr/>
        </p:nvSpPr>
        <p:spPr>
          <a:xfrm rot="-10216537">
            <a:off x="-142691" y="9486901"/>
            <a:ext cx="958654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AutoShape 5"/>
          <p:cNvSpPr/>
          <p:nvPr/>
        </p:nvSpPr>
        <p:spPr>
          <a:xfrm rot="9883088">
            <a:off x="12582055" y="9529762"/>
            <a:ext cx="5818335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utoShape 6"/>
          <p:cNvSpPr/>
          <p:nvPr/>
        </p:nvSpPr>
        <p:spPr>
          <a:xfrm rot="5833126">
            <a:off x="13852915" y="6379369"/>
            <a:ext cx="789690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utoShape 7"/>
          <p:cNvSpPr/>
          <p:nvPr/>
        </p:nvSpPr>
        <p:spPr>
          <a:xfrm rot="-6505710">
            <a:off x="13853739" y="3193755"/>
            <a:ext cx="6752854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utoShape 8"/>
          <p:cNvSpPr/>
          <p:nvPr/>
        </p:nvSpPr>
        <p:spPr>
          <a:xfrm rot="-10232974">
            <a:off x="9725993" y="691837"/>
            <a:ext cx="8630096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-50334" y="-5464"/>
            <a:ext cx="6919845" cy="10292462"/>
            <a:chOff x="0" y="0"/>
            <a:chExt cx="9226460" cy="137232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226423" cy="13723238"/>
            </a:xfrm>
            <a:custGeom>
              <a:avLst/>
              <a:gdLst/>
              <a:ahLst/>
              <a:cxnLst/>
              <a:rect l="l" t="t" r="r" b="b"/>
              <a:pathLst>
                <a:path w="9226423" h="13723238">
                  <a:moveTo>
                    <a:pt x="9226423" y="13723238"/>
                  </a:moveTo>
                  <a:lnTo>
                    <a:pt x="0" y="13723238"/>
                  </a:lnTo>
                  <a:lnTo>
                    <a:pt x="3577844" y="0"/>
                  </a:lnTo>
                  <a:lnTo>
                    <a:pt x="9226423" y="0"/>
                  </a:lnTo>
                  <a:lnTo>
                    <a:pt x="9226423" y="13723238"/>
                  </a:lnTo>
                  <a:close/>
                </a:path>
              </a:pathLst>
            </a:custGeom>
            <a:solidFill>
              <a:srgbClr val="F0ECEC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50334" y="-21420"/>
            <a:ext cx="6922620" cy="15956"/>
            <a:chOff x="0" y="0"/>
            <a:chExt cx="9230160" cy="212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30106" cy="21336"/>
            </a:xfrm>
            <a:custGeom>
              <a:avLst/>
              <a:gdLst/>
              <a:ahLst/>
              <a:cxnLst/>
              <a:rect l="l" t="t" r="r" b="b"/>
              <a:pathLst>
                <a:path w="9230106" h="21336">
                  <a:moveTo>
                    <a:pt x="9230106" y="21336"/>
                  </a:moveTo>
                  <a:lnTo>
                    <a:pt x="0" y="14224"/>
                  </a:lnTo>
                  <a:lnTo>
                    <a:pt x="3683" y="0"/>
                  </a:lnTo>
                  <a:lnTo>
                    <a:pt x="9230106" y="0"/>
                  </a:lnTo>
                  <a:lnTo>
                    <a:pt x="9230106" y="21336"/>
                  </a:lnTo>
                  <a:close/>
                </a:path>
              </a:pathLst>
            </a:custGeom>
            <a:solidFill>
              <a:srgbClr val="F0ECEC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AutoShape 13"/>
          <p:cNvSpPr/>
          <p:nvPr/>
        </p:nvSpPr>
        <p:spPr>
          <a:xfrm rot="10381300">
            <a:off x="-97466" y="607217"/>
            <a:ext cx="10152660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AutoShape 14"/>
          <p:cNvSpPr/>
          <p:nvPr/>
        </p:nvSpPr>
        <p:spPr>
          <a:xfrm rot="-5138789">
            <a:off x="485928" y="5143500"/>
            <a:ext cx="1033586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utoShape 15"/>
          <p:cNvSpPr/>
          <p:nvPr/>
        </p:nvSpPr>
        <p:spPr>
          <a:xfrm rot="-5082671">
            <a:off x="12945813" y="5417342"/>
            <a:ext cx="9800087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AutoShape 16"/>
          <p:cNvSpPr/>
          <p:nvPr/>
        </p:nvSpPr>
        <p:spPr>
          <a:xfrm rot="-8964901">
            <a:off x="13654394" y="1243931"/>
            <a:ext cx="4990263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AutoShape 17"/>
          <p:cNvSpPr/>
          <p:nvPr/>
        </p:nvSpPr>
        <p:spPr>
          <a:xfrm rot="-10390419">
            <a:off x="-96752" y="9677968"/>
            <a:ext cx="10408119" cy="0"/>
          </a:xfrm>
          <a:prstGeom prst="line">
            <a:avLst/>
          </a:prstGeom>
          <a:ln w="9525" cap="rnd">
            <a:solidFill>
              <a:srgbClr val="BA9C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3934918" y="0"/>
            <a:ext cx="14353082" cy="10287000"/>
            <a:chOff x="0" y="0"/>
            <a:chExt cx="19137442" cy="13716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137503" cy="13716000"/>
            </a:xfrm>
            <a:custGeom>
              <a:avLst/>
              <a:gdLst/>
              <a:ahLst/>
              <a:cxnLst/>
              <a:rect l="l" t="t" r="r" b="b"/>
              <a:pathLst>
                <a:path w="19137503" h="13716000">
                  <a:moveTo>
                    <a:pt x="0" y="0"/>
                  </a:moveTo>
                  <a:lnTo>
                    <a:pt x="19137503" y="0"/>
                  </a:lnTo>
                  <a:lnTo>
                    <a:pt x="1913750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A9CA0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831348" y="4837627"/>
            <a:ext cx="9330610" cy="456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sz="8100" i="1">
                <a:solidFill>
                  <a:srgbClr val="001E2E"/>
                </a:solidFill>
                <a:latin typeface="Arimo Italics"/>
                <a:ea typeface="Arimo Italics"/>
                <a:cs typeface="Arimo Italics"/>
                <a:sym typeface="Arimo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524</Words>
  <Application>Microsoft Office PowerPoint</Application>
  <PresentationFormat>自訂</PresentationFormat>
  <Paragraphs>72</Paragraphs>
  <Slides>18</Slides>
  <Notes>0</Notes>
  <HiddenSlides>0</HiddenSlides>
  <MMClips>4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9" baseType="lpstr">
      <vt:lpstr>Times New Roman Bold Italics</vt:lpstr>
      <vt:lpstr>Calibri</vt:lpstr>
      <vt:lpstr>Noto Sans T Chinese</vt:lpstr>
      <vt:lpstr>標楷體</vt:lpstr>
      <vt:lpstr>Arimo Bold Italics</vt:lpstr>
      <vt:lpstr>Arimo</vt:lpstr>
      <vt:lpstr>Arimo Italics</vt:lpstr>
      <vt:lpstr>Times New Roman</vt:lpstr>
      <vt:lpstr>Arial Italics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CNN-LSTM Model [1]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wireless_final_project.pptx</dc:title>
  <dc:creator>User</dc:creator>
  <cp:lastModifiedBy>謝育葦</cp:lastModifiedBy>
  <cp:revision>23</cp:revision>
  <dcterms:created xsi:type="dcterms:W3CDTF">2006-08-16T00:00:00Z</dcterms:created>
  <dcterms:modified xsi:type="dcterms:W3CDTF">2025-06-17T16:54:53Z</dcterms:modified>
  <dc:identifier>DAGpjQqTQt8</dc:identifier>
</cp:coreProperties>
</file>